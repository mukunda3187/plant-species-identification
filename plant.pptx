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3432" y="1773382"/>
            <a:ext cx="16315868" cy="237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3"/>
              </a:lnSpc>
            </a:pPr>
            <a:r>
              <a:rPr lang="en-US" sz="7054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Plant Species Identification Using MobileNetV2 Transfer Learning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2991" y="4712027"/>
            <a:ext cx="16315868" cy="307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7"/>
              </a:lnSpc>
            </a:pPr>
          </a:p>
          <a:p>
            <a:pPr algn="l">
              <a:lnSpc>
                <a:spcPts val="6027"/>
              </a:lnSpc>
            </a:pPr>
            <a:r>
              <a:rPr lang="en-US" sz="3776" b="true">
                <a:solidFill>
                  <a:srgbClr val="4054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 Name : </a:t>
            </a:r>
            <a:r>
              <a:rPr lang="en-US" sz="3776">
                <a:solidFill>
                  <a:srgbClr val="405449"/>
                </a:solidFill>
                <a:latin typeface="Calibri (MS)"/>
                <a:ea typeface="Calibri (MS)"/>
                <a:cs typeface="Calibri (MS)"/>
                <a:sym typeface="Calibri (MS)"/>
              </a:rPr>
              <a:t>N. Mukunda Rao </a:t>
            </a:r>
          </a:p>
          <a:p>
            <a:pPr algn="l">
              <a:lnSpc>
                <a:spcPts val="6027"/>
              </a:lnSpc>
            </a:pPr>
            <a:r>
              <a:rPr lang="en-US" sz="3776" b="true">
                <a:solidFill>
                  <a:srgbClr val="4054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Roll Number :</a:t>
            </a:r>
            <a:r>
              <a:rPr lang="en-US" sz="3776">
                <a:solidFill>
                  <a:srgbClr val="405449"/>
                </a:solidFill>
                <a:latin typeface="Calibri (MS)"/>
                <a:ea typeface="Calibri (MS)"/>
                <a:cs typeface="Calibri (MS)"/>
                <a:sym typeface="Calibri (MS)"/>
              </a:rPr>
              <a:t> 160124771051</a:t>
            </a:r>
          </a:p>
          <a:p>
            <a:pPr algn="l">
              <a:lnSpc>
                <a:spcPts val="6027"/>
              </a:lnSpc>
            </a:pPr>
            <a:r>
              <a:rPr lang="en-US" sz="3776" b="true">
                <a:solidFill>
                  <a:srgbClr val="4054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 And Section :</a:t>
            </a:r>
            <a:r>
              <a:rPr lang="en-US" sz="3776">
                <a:solidFill>
                  <a:srgbClr val="405449"/>
                </a:solidFill>
                <a:latin typeface="Calibri (MS)"/>
                <a:ea typeface="Calibri (MS)"/>
                <a:cs typeface="Calibri (MS)"/>
                <a:sym typeface="Calibri (MS)"/>
              </a:rPr>
              <a:t> AIDS - 1 , Semester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0376" y="857250"/>
            <a:ext cx="4359672" cy="116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6"/>
              </a:lnSpc>
            </a:pPr>
            <a:r>
              <a:rPr lang="en-US" sz="6600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name="Freeform 3" id="3" descr="preencoded.png"/>
          <p:cNvSpPr/>
          <p:nvPr/>
        </p:nvSpPr>
        <p:spPr>
          <a:xfrm flipH="false" flipV="false" rot="0">
            <a:off x="992991" y="2629870"/>
            <a:ext cx="996907" cy="996920"/>
          </a:xfrm>
          <a:custGeom>
            <a:avLst/>
            <a:gdLst/>
            <a:ahLst/>
            <a:cxnLst/>
            <a:rect r="r" b="b" t="t" l="l"/>
            <a:pathLst>
              <a:path h="996920" w="996907">
                <a:moveTo>
                  <a:pt x="0" y="0"/>
                </a:moveTo>
                <a:lnTo>
                  <a:pt x="996906" y="0"/>
                </a:lnTo>
                <a:lnTo>
                  <a:pt x="996906" y="996920"/>
                </a:lnTo>
                <a:lnTo>
                  <a:pt x="0" y="996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331" r="0" b="-2533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99422" y="2525095"/>
            <a:ext cx="4064000" cy="137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0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Agricultural &amp; </a:t>
            </a:r>
          </a:p>
          <a:p>
            <a:pPr algn="l">
              <a:lnSpc>
                <a:spcPts val="5116"/>
              </a:lnSpc>
            </a:pPr>
            <a:r>
              <a:rPr lang="en-US" sz="40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Educational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89897" y="4136136"/>
            <a:ext cx="6916655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Plant identification supports crop management, research, and learning.</a:t>
            </a:r>
          </a:p>
        </p:txBody>
      </p:sp>
      <p:sp>
        <p:nvSpPr>
          <p:cNvPr name="Freeform 6" id="6" descr="preencoded.png"/>
          <p:cNvSpPr/>
          <p:nvPr/>
        </p:nvSpPr>
        <p:spPr>
          <a:xfrm flipH="false" flipV="false" rot="0">
            <a:off x="9144000" y="2629870"/>
            <a:ext cx="893416" cy="893428"/>
          </a:xfrm>
          <a:custGeom>
            <a:avLst/>
            <a:gdLst/>
            <a:ahLst/>
            <a:cxnLst/>
            <a:rect r="r" b="b" t="t" l="l"/>
            <a:pathLst>
              <a:path h="893428" w="893416">
                <a:moveTo>
                  <a:pt x="0" y="0"/>
                </a:moveTo>
                <a:lnTo>
                  <a:pt x="893416" y="0"/>
                </a:lnTo>
                <a:lnTo>
                  <a:pt x="893416" y="893428"/>
                </a:lnTo>
                <a:lnTo>
                  <a:pt x="0" y="8934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35" t="0" r="-733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807678" y="2712202"/>
            <a:ext cx="5192316" cy="72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Limitations of Manual ID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07678" y="3833601"/>
            <a:ext cx="6916807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identification needs experts and can be slow or inconsistent.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992991" y="6069635"/>
            <a:ext cx="996907" cy="996920"/>
          </a:xfrm>
          <a:custGeom>
            <a:avLst/>
            <a:gdLst/>
            <a:ahLst/>
            <a:cxnLst/>
            <a:rect r="r" b="b" t="t" l="l"/>
            <a:pathLst>
              <a:path h="996920" w="996907">
                <a:moveTo>
                  <a:pt x="0" y="0"/>
                </a:moveTo>
                <a:lnTo>
                  <a:pt x="996906" y="0"/>
                </a:lnTo>
                <a:lnTo>
                  <a:pt x="996906" y="996920"/>
                </a:lnTo>
                <a:lnTo>
                  <a:pt x="0" y="996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335" t="0" r="-733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42601" y="5964860"/>
            <a:ext cx="4655344" cy="72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Role of Deep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6876" y="6930466"/>
            <a:ext cx="6916655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Neural networks learn visual features to automate species classification.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328156" y="6069635"/>
            <a:ext cx="996907" cy="996920"/>
          </a:xfrm>
          <a:custGeom>
            <a:avLst/>
            <a:gdLst/>
            <a:ahLst/>
            <a:cxnLst/>
            <a:rect r="r" b="b" t="t" l="l"/>
            <a:pathLst>
              <a:path h="996920" w="996907">
                <a:moveTo>
                  <a:pt x="0" y="0"/>
                </a:moveTo>
                <a:lnTo>
                  <a:pt x="996907" y="0"/>
                </a:lnTo>
                <a:lnTo>
                  <a:pt x="996907" y="996920"/>
                </a:lnTo>
                <a:lnTo>
                  <a:pt x="0" y="9969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668" t="0" r="-266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807678" y="5964860"/>
            <a:ext cx="3668812" cy="72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Approach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7678" y="6930466"/>
            <a:ext cx="6916807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Use MobileNetV2 transfer learning to build a compact, accurate classifier.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358254"/>
            <a:ext cx="6801049" cy="116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6"/>
              </a:lnSpc>
            </a:pPr>
            <a:r>
              <a:rPr lang="en-US" sz="6600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3432" y="1968024"/>
            <a:ext cx="16315868" cy="566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857" indent="-316929" lvl="1">
              <a:lnSpc>
                <a:spcPts val="5586"/>
              </a:lnSpc>
              <a:buFont typeface="Arial"/>
              <a:buChar char="•"/>
            </a:pPr>
            <a:r>
              <a:rPr lang="en-US" sz="35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identification is time-consuming.</a:t>
            </a:r>
          </a:p>
          <a:p>
            <a:pPr algn="l" marL="633906" indent="-316953" lvl="1">
              <a:lnSpc>
                <a:spcPts val="5586"/>
              </a:lnSpc>
              <a:buFont typeface="Arial"/>
              <a:buChar char="•"/>
            </a:pPr>
            <a:r>
              <a:rPr lang="en-US" sz="35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Requires expert knowledge.</a:t>
            </a:r>
          </a:p>
          <a:p>
            <a:pPr algn="l" marL="633906" indent="-316953" lvl="1">
              <a:lnSpc>
                <a:spcPts val="5586"/>
              </a:lnSpc>
              <a:buFont typeface="Arial"/>
              <a:buChar char="•"/>
            </a:pPr>
            <a:r>
              <a:rPr lang="en-US" sz="35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Similar plants are difficult to distinguish.</a:t>
            </a:r>
          </a:p>
          <a:p>
            <a:pPr algn="l" marL="633906" indent="-316953" lvl="1">
              <a:lnSpc>
                <a:spcPts val="5586"/>
              </a:lnSpc>
              <a:buFont typeface="Arial"/>
              <a:buChar char="•"/>
            </a:pPr>
            <a:r>
              <a:rPr lang="en-US" sz="35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Lighting and backgrounds affect identification.</a:t>
            </a:r>
          </a:p>
          <a:p>
            <a:pPr algn="l" marL="633857" indent="-316929" lvl="1">
              <a:lnSpc>
                <a:spcPts val="5586"/>
              </a:lnSpc>
              <a:buFont typeface="Arial"/>
              <a:buChar char="•"/>
            </a:pPr>
            <a:r>
              <a:rPr lang="en-US" sz="35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identification can cause errors.</a:t>
            </a:r>
          </a:p>
          <a:p>
            <a:pPr algn="l" marL="633906" indent="-316953" lvl="1">
              <a:lnSpc>
                <a:spcPts val="5586"/>
              </a:lnSpc>
              <a:buFont typeface="Arial"/>
              <a:buChar char="•"/>
            </a:pPr>
            <a:r>
              <a:rPr lang="en-US" sz="35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Need for a fast and user-friendly tool.</a:t>
            </a:r>
          </a:p>
          <a:p>
            <a:pPr algn="l" marL="633906" indent="-316953" lvl="1">
              <a:lnSpc>
                <a:spcPts val="5586"/>
              </a:lnSpc>
              <a:buFont typeface="Arial"/>
              <a:buChar char="•"/>
            </a:pPr>
            <a:r>
              <a:rPr lang="en-US" sz="35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Deep learning can automatically classify plants.</a:t>
            </a:r>
          </a:p>
          <a:p>
            <a:pPr algn="l" marL="633857" indent="-316929" lvl="1">
              <a:lnSpc>
                <a:spcPts val="5586"/>
              </a:lnSpc>
              <a:buFont typeface="Arial"/>
              <a:buChar char="•"/>
            </a:pPr>
            <a:r>
              <a:rPr lang="en-US" sz="35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species prediction with confidence score.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724672"/>
            <a:ext cx="3179266" cy="116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6"/>
              </a:lnSpc>
            </a:pPr>
            <a:r>
              <a:rPr lang="en-US" sz="6600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2991" y="2168290"/>
            <a:ext cx="3296047" cy="61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3500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2991" y="2772823"/>
            <a:ext cx="8617115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348" indent="-271674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Source: Plant Species Image Dataset</a:t>
            </a:r>
          </a:p>
          <a:p>
            <a:pPr algn="l" marL="543348" indent="-271674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Total Images: 9,800</a:t>
            </a:r>
          </a:p>
          <a:p>
            <a:pPr algn="l" marL="543348" indent="-271674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Number of Classes: 14</a:t>
            </a:r>
          </a:p>
          <a:p>
            <a:pPr algn="l" marL="543348" indent="-271674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Images per Class: 700</a:t>
            </a:r>
          </a:p>
          <a:p>
            <a:pPr algn="l" marL="543348" indent="-271674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Image Input Size: 224 × 224 pixels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2991" y="5289271"/>
            <a:ext cx="3723382" cy="61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3500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 Preparation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991" y="5836653"/>
            <a:ext cx="8617115" cy="288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Images divided into training and validation sets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Training Images: 7,840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Validation Images: 1,960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Data augmentation applied during training: Random Flip, Random Rotation, and Random Zoom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42509" y="2168290"/>
            <a:ext cx="2929037" cy="61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3500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 Plant Classes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42509" y="2715673"/>
            <a:ext cx="7075732" cy="402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Aloe Vera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Banana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Coconut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Corn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Cucumber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Ginger</a:t>
            </a:r>
          </a:p>
          <a:p>
            <a:pPr algn="l" marL="543306" indent="-271653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Guava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80375" y="2144173"/>
            <a:ext cx="7075732" cy="460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Mango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Melon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Orange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Paddy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Papaya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Pineapple</a:t>
            </a:r>
          </a:p>
          <a:p>
            <a:pPr algn="l" marL="543348" indent="-271674" lvl="1">
              <a:lnSpc>
                <a:spcPts val="4572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Watermelon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666483"/>
            <a:ext cx="3652838" cy="116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6"/>
              </a:lnSpc>
            </a:pPr>
            <a:r>
              <a:rPr lang="en-US" sz="6600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92991" y="1997050"/>
            <a:ext cx="606485" cy="606504"/>
            <a:chOff x="0" y="0"/>
            <a:chExt cx="808647" cy="8086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8609" cy="808609"/>
            </a:xfrm>
            <a:custGeom>
              <a:avLst/>
              <a:gdLst/>
              <a:ahLst/>
              <a:cxnLst/>
              <a:rect r="r" b="b" t="t" l="l"/>
              <a:pathLst>
                <a:path h="808609" w="80860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485140" y="0"/>
                  </a:lnTo>
                  <a:cubicBezTo>
                    <a:pt x="663829" y="0"/>
                    <a:pt x="808609" y="144780"/>
                    <a:pt x="808609" y="323469"/>
                  </a:cubicBezTo>
                  <a:lnTo>
                    <a:pt x="808609" y="485140"/>
                  </a:lnTo>
                  <a:cubicBezTo>
                    <a:pt x="808609" y="663829"/>
                    <a:pt x="663829" y="808609"/>
                    <a:pt x="485140" y="808609"/>
                  </a:cubicBezTo>
                  <a:lnTo>
                    <a:pt x="323469" y="808609"/>
                  </a:lnTo>
                  <a:cubicBezTo>
                    <a:pt x="144780" y="808609"/>
                    <a:pt x="0" y="663829"/>
                    <a:pt x="0" y="48514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94118" y="2047618"/>
            <a:ext cx="404222" cy="631664"/>
            <a:chOff x="0" y="0"/>
            <a:chExt cx="538963" cy="8422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8967" cy="842219"/>
            </a:xfrm>
            <a:custGeom>
              <a:avLst/>
              <a:gdLst/>
              <a:ahLst/>
              <a:cxnLst/>
              <a:rect r="r" b="b" t="t" l="l"/>
              <a:pathLst>
                <a:path h="842219" w="538967">
                  <a:moveTo>
                    <a:pt x="0" y="0"/>
                  </a:moveTo>
                  <a:lnTo>
                    <a:pt x="538967" y="0"/>
                  </a:lnTo>
                  <a:lnTo>
                    <a:pt x="538967" y="842219"/>
                  </a:lnTo>
                  <a:lnTo>
                    <a:pt x="0" y="8422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07" t="0" r="-110406" b="199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38963" cy="9088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2">
                  <a:solidFill>
                    <a:srgbClr val="3B45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55508" y="1994440"/>
            <a:ext cx="2675632" cy="62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1"/>
              </a:lnSpc>
            </a:pPr>
            <a:r>
              <a:rPr lang="en-US" b="true" sz="3527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 classifier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5508" y="2502398"/>
            <a:ext cx="15453350" cy="61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2"/>
              </a:lnSpc>
            </a:pPr>
            <a:r>
              <a:rPr lang="en-US" sz="3001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a deep-learning model for plant species recognition.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991" y="3596859"/>
            <a:ext cx="606485" cy="606504"/>
            <a:chOff x="0" y="0"/>
            <a:chExt cx="808647" cy="808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8609" cy="808609"/>
            </a:xfrm>
            <a:custGeom>
              <a:avLst/>
              <a:gdLst/>
              <a:ahLst/>
              <a:cxnLst/>
              <a:rect r="r" b="b" t="t" l="l"/>
              <a:pathLst>
                <a:path h="808609" w="80860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485140" y="0"/>
                  </a:lnTo>
                  <a:cubicBezTo>
                    <a:pt x="663829" y="0"/>
                    <a:pt x="808609" y="144780"/>
                    <a:pt x="808609" y="323469"/>
                  </a:cubicBezTo>
                  <a:lnTo>
                    <a:pt x="808609" y="485140"/>
                  </a:lnTo>
                  <a:cubicBezTo>
                    <a:pt x="808609" y="663829"/>
                    <a:pt x="663829" y="808609"/>
                    <a:pt x="485140" y="808609"/>
                  </a:cubicBezTo>
                  <a:lnTo>
                    <a:pt x="323469" y="808609"/>
                  </a:lnTo>
                  <a:cubicBezTo>
                    <a:pt x="144780" y="808609"/>
                    <a:pt x="0" y="663829"/>
                    <a:pt x="0" y="48514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4118" y="3647427"/>
            <a:ext cx="404222" cy="631664"/>
            <a:chOff x="0" y="0"/>
            <a:chExt cx="538963" cy="8422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8967" cy="842219"/>
            </a:xfrm>
            <a:custGeom>
              <a:avLst/>
              <a:gdLst/>
              <a:ahLst/>
              <a:cxnLst/>
              <a:rect r="r" b="b" t="t" l="l"/>
              <a:pathLst>
                <a:path h="842219" w="538967">
                  <a:moveTo>
                    <a:pt x="0" y="0"/>
                  </a:moveTo>
                  <a:lnTo>
                    <a:pt x="538967" y="0"/>
                  </a:lnTo>
                  <a:lnTo>
                    <a:pt x="538967" y="842219"/>
                  </a:lnTo>
                  <a:lnTo>
                    <a:pt x="0" y="8422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07" t="0" r="-110406" b="1999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538963" cy="9088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2">
                  <a:solidFill>
                    <a:srgbClr val="3B45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55508" y="3594259"/>
            <a:ext cx="3961209" cy="62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1"/>
              </a:lnSpc>
            </a:pPr>
            <a:r>
              <a:rPr lang="en-US" b="true" sz="3527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14-class classification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55508" y="4102208"/>
            <a:ext cx="15453350" cy="61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2"/>
              </a:lnSpc>
            </a:pPr>
            <a:r>
              <a:rPr lang="en-US" sz="3001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Distinguish among 14 plant species from images.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991" y="5196669"/>
            <a:ext cx="606485" cy="606504"/>
            <a:chOff x="0" y="0"/>
            <a:chExt cx="808647" cy="808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8609" cy="808609"/>
            </a:xfrm>
            <a:custGeom>
              <a:avLst/>
              <a:gdLst/>
              <a:ahLst/>
              <a:cxnLst/>
              <a:rect r="r" b="b" t="t" l="l"/>
              <a:pathLst>
                <a:path h="808609" w="80860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485140" y="0"/>
                  </a:lnTo>
                  <a:cubicBezTo>
                    <a:pt x="663829" y="0"/>
                    <a:pt x="808609" y="144780"/>
                    <a:pt x="808609" y="323469"/>
                  </a:cubicBezTo>
                  <a:lnTo>
                    <a:pt x="808609" y="485140"/>
                  </a:lnTo>
                  <a:cubicBezTo>
                    <a:pt x="808609" y="663829"/>
                    <a:pt x="663829" y="808609"/>
                    <a:pt x="485140" y="808609"/>
                  </a:cubicBezTo>
                  <a:lnTo>
                    <a:pt x="323469" y="808609"/>
                  </a:lnTo>
                  <a:cubicBezTo>
                    <a:pt x="144780" y="808609"/>
                    <a:pt x="0" y="663829"/>
                    <a:pt x="0" y="48514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94118" y="5247237"/>
            <a:ext cx="404222" cy="631664"/>
            <a:chOff x="0" y="0"/>
            <a:chExt cx="538963" cy="8422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8967" cy="842219"/>
            </a:xfrm>
            <a:custGeom>
              <a:avLst/>
              <a:gdLst/>
              <a:ahLst/>
              <a:cxnLst/>
              <a:rect r="r" b="b" t="t" l="l"/>
              <a:pathLst>
                <a:path h="842219" w="538967">
                  <a:moveTo>
                    <a:pt x="0" y="0"/>
                  </a:moveTo>
                  <a:lnTo>
                    <a:pt x="538967" y="0"/>
                  </a:lnTo>
                  <a:lnTo>
                    <a:pt x="538967" y="842219"/>
                  </a:lnTo>
                  <a:lnTo>
                    <a:pt x="0" y="8422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07" t="0" r="-110406" b="199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8963" cy="9088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2">
                  <a:solidFill>
                    <a:srgbClr val="3B45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855508" y="5194068"/>
            <a:ext cx="4068366" cy="62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1"/>
              </a:lnSpc>
            </a:pPr>
            <a:r>
              <a:rPr lang="en-US" b="true" sz="3527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MobileNetV2 transfer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55508" y="5702017"/>
            <a:ext cx="15453350" cy="61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2"/>
              </a:lnSpc>
            </a:pPr>
            <a:r>
              <a:rPr lang="en-US" sz="3001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Leverage pretrained MobileNetV2 (ImageNet) to improve performance.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991" y="6796488"/>
            <a:ext cx="606485" cy="606504"/>
            <a:chOff x="0" y="0"/>
            <a:chExt cx="808647" cy="8086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8609" cy="808609"/>
            </a:xfrm>
            <a:custGeom>
              <a:avLst/>
              <a:gdLst/>
              <a:ahLst/>
              <a:cxnLst/>
              <a:rect r="r" b="b" t="t" l="l"/>
              <a:pathLst>
                <a:path h="808609" w="80860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485140" y="0"/>
                  </a:lnTo>
                  <a:cubicBezTo>
                    <a:pt x="663829" y="0"/>
                    <a:pt x="808609" y="144780"/>
                    <a:pt x="808609" y="323469"/>
                  </a:cubicBezTo>
                  <a:lnTo>
                    <a:pt x="808609" y="485140"/>
                  </a:lnTo>
                  <a:cubicBezTo>
                    <a:pt x="808609" y="663829"/>
                    <a:pt x="663829" y="808609"/>
                    <a:pt x="485140" y="808609"/>
                  </a:cubicBezTo>
                  <a:lnTo>
                    <a:pt x="323469" y="808609"/>
                  </a:lnTo>
                  <a:cubicBezTo>
                    <a:pt x="144780" y="808609"/>
                    <a:pt x="0" y="663829"/>
                    <a:pt x="0" y="48514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4118" y="6847056"/>
            <a:ext cx="404222" cy="631664"/>
            <a:chOff x="0" y="0"/>
            <a:chExt cx="538963" cy="8422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8967" cy="842219"/>
            </a:xfrm>
            <a:custGeom>
              <a:avLst/>
              <a:gdLst/>
              <a:ahLst/>
              <a:cxnLst/>
              <a:rect r="r" b="b" t="t" l="l"/>
              <a:pathLst>
                <a:path h="842219" w="538967">
                  <a:moveTo>
                    <a:pt x="0" y="0"/>
                  </a:moveTo>
                  <a:lnTo>
                    <a:pt x="538967" y="0"/>
                  </a:lnTo>
                  <a:lnTo>
                    <a:pt x="538967" y="842219"/>
                  </a:lnTo>
                  <a:lnTo>
                    <a:pt x="0" y="8422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07" t="0" r="-110406" b="1999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538963" cy="9088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2">
                  <a:solidFill>
                    <a:srgbClr val="3B45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855508" y="6793878"/>
            <a:ext cx="4048224" cy="62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1"/>
              </a:lnSpc>
            </a:pPr>
            <a:r>
              <a:rPr lang="en-US" b="true" sz="3527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 confidence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55508" y="7301836"/>
            <a:ext cx="15453350" cy="61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2"/>
              </a:lnSpc>
            </a:pPr>
            <a:r>
              <a:rPr lang="en-US" sz="3001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 confidence scores alongside class predictions.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92991" y="8396297"/>
            <a:ext cx="606485" cy="606504"/>
            <a:chOff x="0" y="0"/>
            <a:chExt cx="808647" cy="8086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8609" cy="808609"/>
            </a:xfrm>
            <a:custGeom>
              <a:avLst/>
              <a:gdLst/>
              <a:ahLst/>
              <a:cxnLst/>
              <a:rect r="r" b="b" t="t" l="l"/>
              <a:pathLst>
                <a:path h="808609" w="80860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485140" y="0"/>
                  </a:lnTo>
                  <a:cubicBezTo>
                    <a:pt x="663829" y="0"/>
                    <a:pt x="808609" y="144780"/>
                    <a:pt x="808609" y="323469"/>
                  </a:cubicBezTo>
                  <a:lnTo>
                    <a:pt x="808609" y="485140"/>
                  </a:lnTo>
                  <a:cubicBezTo>
                    <a:pt x="808609" y="663829"/>
                    <a:pt x="663829" y="808609"/>
                    <a:pt x="485140" y="808609"/>
                  </a:cubicBezTo>
                  <a:lnTo>
                    <a:pt x="323469" y="808609"/>
                  </a:lnTo>
                  <a:cubicBezTo>
                    <a:pt x="144780" y="808609"/>
                    <a:pt x="0" y="663829"/>
                    <a:pt x="0" y="48514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94118" y="8446865"/>
            <a:ext cx="404222" cy="631664"/>
            <a:chOff x="0" y="0"/>
            <a:chExt cx="538963" cy="8422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8967" cy="842219"/>
            </a:xfrm>
            <a:custGeom>
              <a:avLst/>
              <a:gdLst/>
              <a:ahLst/>
              <a:cxnLst/>
              <a:rect r="r" b="b" t="t" l="l"/>
              <a:pathLst>
                <a:path h="842219" w="538967">
                  <a:moveTo>
                    <a:pt x="0" y="0"/>
                  </a:moveTo>
                  <a:lnTo>
                    <a:pt x="538967" y="0"/>
                  </a:lnTo>
                  <a:lnTo>
                    <a:pt x="538967" y="842219"/>
                  </a:lnTo>
                  <a:lnTo>
                    <a:pt x="0" y="8422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07" t="0" r="-110406" b="1999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538963" cy="9088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2">
                  <a:solidFill>
                    <a:srgbClr val="3B45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855508" y="8393687"/>
            <a:ext cx="3043436" cy="62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1"/>
              </a:lnSpc>
            </a:pPr>
            <a:r>
              <a:rPr lang="en-US" b="true" sz="3527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 integration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55508" y="8901646"/>
            <a:ext cx="15453350" cy="61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2"/>
              </a:lnSpc>
            </a:pPr>
            <a:r>
              <a:rPr lang="en-US" sz="3001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the trained model in a React + Flask web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4737" y="3190828"/>
            <a:ext cx="3633319" cy="1952672"/>
            <a:chOff x="0" y="0"/>
            <a:chExt cx="956923" cy="514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6923" cy="514284"/>
            </a:xfrm>
            <a:custGeom>
              <a:avLst/>
              <a:gdLst/>
              <a:ahLst/>
              <a:cxnLst/>
              <a:rect r="r" b="b" t="t" l="l"/>
              <a:pathLst>
                <a:path h="514284" w="956923">
                  <a:moveTo>
                    <a:pt x="108671" y="0"/>
                  </a:moveTo>
                  <a:lnTo>
                    <a:pt x="848252" y="0"/>
                  </a:lnTo>
                  <a:cubicBezTo>
                    <a:pt x="877073" y="0"/>
                    <a:pt x="904715" y="11449"/>
                    <a:pt x="925094" y="31829"/>
                  </a:cubicBezTo>
                  <a:cubicBezTo>
                    <a:pt x="945474" y="52209"/>
                    <a:pt x="956923" y="79850"/>
                    <a:pt x="956923" y="108671"/>
                  </a:cubicBezTo>
                  <a:lnTo>
                    <a:pt x="956923" y="405612"/>
                  </a:lnTo>
                  <a:cubicBezTo>
                    <a:pt x="956923" y="465630"/>
                    <a:pt x="908270" y="514284"/>
                    <a:pt x="848252" y="514284"/>
                  </a:cubicBezTo>
                  <a:lnTo>
                    <a:pt x="108671" y="514284"/>
                  </a:lnTo>
                  <a:cubicBezTo>
                    <a:pt x="79850" y="514284"/>
                    <a:pt x="52209" y="502835"/>
                    <a:pt x="31829" y="482455"/>
                  </a:cubicBezTo>
                  <a:cubicBezTo>
                    <a:pt x="11449" y="462075"/>
                    <a:pt x="0" y="434434"/>
                    <a:pt x="0" y="405612"/>
                  </a:cubicBezTo>
                  <a:lnTo>
                    <a:pt x="0" y="108671"/>
                  </a:lnTo>
                  <a:cubicBezTo>
                    <a:pt x="0" y="48654"/>
                    <a:pt x="48654" y="0"/>
                    <a:pt x="10867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956923" cy="600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71205" y="857250"/>
            <a:ext cx="4322465" cy="116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36"/>
              </a:lnSpc>
            </a:pPr>
            <a:r>
              <a:rPr lang="en-US" sz="6600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991" y="3424904"/>
            <a:ext cx="1522413" cy="70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999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1.Input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405721" y="3157609"/>
            <a:ext cx="3910410" cy="1952672"/>
            <a:chOff x="0" y="0"/>
            <a:chExt cx="1029902" cy="5142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9902" cy="514284"/>
            </a:xfrm>
            <a:custGeom>
              <a:avLst/>
              <a:gdLst/>
              <a:ahLst/>
              <a:cxnLst/>
              <a:rect r="r" b="b" t="t" l="l"/>
              <a:pathLst>
                <a:path h="514284" w="1029902">
                  <a:moveTo>
                    <a:pt x="100971" y="0"/>
                  </a:moveTo>
                  <a:lnTo>
                    <a:pt x="928931" y="0"/>
                  </a:lnTo>
                  <a:cubicBezTo>
                    <a:pt x="955710" y="0"/>
                    <a:pt x="981393" y="10638"/>
                    <a:pt x="1000328" y="29574"/>
                  </a:cubicBezTo>
                  <a:cubicBezTo>
                    <a:pt x="1019264" y="48509"/>
                    <a:pt x="1029902" y="74192"/>
                    <a:pt x="1029902" y="100971"/>
                  </a:cubicBezTo>
                  <a:lnTo>
                    <a:pt x="1029902" y="413313"/>
                  </a:lnTo>
                  <a:cubicBezTo>
                    <a:pt x="1029902" y="440092"/>
                    <a:pt x="1019264" y="465774"/>
                    <a:pt x="1000328" y="484710"/>
                  </a:cubicBezTo>
                  <a:cubicBezTo>
                    <a:pt x="981393" y="503646"/>
                    <a:pt x="955710" y="514284"/>
                    <a:pt x="928931" y="514284"/>
                  </a:cubicBezTo>
                  <a:lnTo>
                    <a:pt x="100971" y="514284"/>
                  </a:lnTo>
                  <a:cubicBezTo>
                    <a:pt x="74192" y="514284"/>
                    <a:pt x="48509" y="503646"/>
                    <a:pt x="29574" y="484710"/>
                  </a:cubicBezTo>
                  <a:cubicBezTo>
                    <a:pt x="10638" y="465774"/>
                    <a:pt x="0" y="440092"/>
                    <a:pt x="0" y="413313"/>
                  </a:cubicBezTo>
                  <a:lnTo>
                    <a:pt x="0" y="100971"/>
                  </a:lnTo>
                  <a:cubicBezTo>
                    <a:pt x="0" y="74192"/>
                    <a:pt x="10638" y="48509"/>
                    <a:pt x="29574" y="29574"/>
                  </a:cubicBezTo>
                  <a:cubicBezTo>
                    <a:pt x="48509" y="10638"/>
                    <a:pt x="74192" y="0"/>
                    <a:pt x="10097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029902" cy="600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92991" y="4149728"/>
            <a:ext cx="5891498" cy="62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upload plant image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71205" y="3424904"/>
            <a:ext cx="3337620" cy="70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999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2.Preprocessing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60805" y="3157609"/>
            <a:ext cx="5676864" cy="1952672"/>
            <a:chOff x="0" y="0"/>
            <a:chExt cx="1495141" cy="5142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5141" cy="514284"/>
            </a:xfrm>
            <a:custGeom>
              <a:avLst/>
              <a:gdLst/>
              <a:ahLst/>
              <a:cxnLst/>
              <a:rect r="r" b="b" t="t" l="l"/>
              <a:pathLst>
                <a:path h="514284" w="1495141">
                  <a:moveTo>
                    <a:pt x="69552" y="0"/>
                  </a:moveTo>
                  <a:lnTo>
                    <a:pt x="1425589" y="0"/>
                  </a:lnTo>
                  <a:cubicBezTo>
                    <a:pt x="1464002" y="0"/>
                    <a:pt x="1495141" y="31140"/>
                    <a:pt x="1495141" y="69552"/>
                  </a:cubicBezTo>
                  <a:lnTo>
                    <a:pt x="1495141" y="444732"/>
                  </a:lnTo>
                  <a:cubicBezTo>
                    <a:pt x="1495141" y="483144"/>
                    <a:pt x="1464002" y="514284"/>
                    <a:pt x="1425589" y="514284"/>
                  </a:cubicBezTo>
                  <a:lnTo>
                    <a:pt x="69552" y="514284"/>
                  </a:lnTo>
                  <a:cubicBezTo>
                    <a:pt x="31140" y="514284"/>
                    <a:pt x="0" y="483144"/>
                    <a:pt x="0" y="444732"/>
                  </a:cubicBezTo>
                  <a:lnTo>
                    <a:pt x="0" y="69552"/>
                  </a:lnTo>
                  <a:cubicBezTo>
                    <a:pt x="0" y="31140"/>
                    <a:pt x="31140" y="0"/>
                    <a:pt x="6955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495141" cy="600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989616" y="4149727"/>
            <a:ext cx="5891498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Resize to 224×224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49420" y="3424904"/>
            <a:ext cx="4656534" cy="70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999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Data Augmentation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49420" y="4149728"/>
            <a:ext cx="5891498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Flip, Rotation and Zoom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467769" y="6058753"/>
            <a:ext cx="3896363" cy="1952672"/>
            <a:chOff x="0" y="0"/>
            <a:chExt cx="1026203" cy="5142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6203" cy="514284"/>
            </a:xfrm>
            <a:custGeom>
              <a:avLst/>
              <a:gdLst/>
              <a:ahLst/>
              <a:cxnLst/>
              <a:rect r="r" b="b" t="t" l="l"/>
              <a:pathLst>
                <a:path h="514284" w="1026203">
                  <a:moveTo>
                    <a:pt x="101335" y="0"/>
                  </a:moveTo>
                  <a:lnTo>
                    <a:pt x="924868" y="0"/>
                  </a:lnTo>
                  <a:cubicBezTo>
                    <a:pt x="951743" y="0"/>
                    <a:pt x="977518" y="10676"/>
                    <a:pt x="996522" y="29680"/>
                  </a:cubicBezTo>
                  <a:cubicBezTo>
                    <a:pt x="1015526" y="48684"/>
                    <a:pt x="1026203" y="74459"/>
                    <a:pt x="1026203" y="101335"/>
                  </a:cubicBezTo>
                  <a:lnTo>
                    <a:pt x="1026203" y="412949"/>
                  </a:lnTo>
                  <a:cubicBezTo>
                    <a:pt x="1026203" y="439825"/>
                    <a:pt x="1015526" y="465600"/>
                    <a:pt x="996522" y="484604"/>
                  </a:cubicBezTo>
                  <a:cubicBezTo>
                    <a:pt x="977518" y="503608"/>
                    <a:pt x="951743" y="514284"/>
                    <a:pt x="924868" y="514284"/>
                  </a:cubicBezTo>
                  <a:lnTo>
                    <a:pt x="101335" y="514284"/>
                  </a:lnTo>
                  <a:cubicBezTo>
                    <a:pt x="74459" y="514284"/>
                    <a:pt x="48684" y="503608"/>
                    <a:pt x="29680" y="484604"/>
                  </a:cubicBezTo>
                  <a:cubicBezTo>
                    <a:pt x="10676" y="465600"/>
                    <a:pt x="0" y="439825"/>
                    <a:pt x="0" y="412949"/>
                  </a:cubicBezTo>
                  <a:lnTo>
                    <a:pt x="0" y="101335"/>
                  </a:lnTo>
                  <a:cubicBezTo>
                    <a:pt x="0" y="74459"/>
                    <a:pt x="10676" y="48684"/>
                    <a:pt x="29680" y="29680"/>
                  </a:cubicBezTo>
                  <a:cubicBezTo>
                    <a:pt x="48684" y="10676"/>
                    <a:pt x="74459" y="0"/>
                    <a:pt x="101335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1026203" cy="600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4737" y="6058753"/>
            <a:ext cx="4303440" cy="1952672"/>
            <a:chOff x="0" y="0"/>
            <a:chExt cx="1133416" cy="5142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3416" cy="514284"/>
            </a:xfrm>
            <a:custGeom>
              <a:avLst/>
              <a:gdLst/>
              <a:ahLst/>
              <a:cxnLst/>
              <a:rect r="r" b="b" t="t" l="l"/>
              <a:pathLst>
                <a:path h="514284" w="1133416">
                  <a:moveTo>
                    <a:pt x="91749" y="0"/>
                  </a:moveTo>
                  <a:lnTo>
                    <a:pt x="1041667" y="0"/>
                  </a:lnTo>
                  <a:cubicBezTo>
                    <a:pt x="1066000" y="0"/>
                    <a:pt x="1089337" y="9666"/>
                    <a:pt x="1106543" y="26873"/>
                  </a:cubicBezTo>
                  <a:cubicBezTo>
                    <a:pt x="1123750" y="44079"/>
                    <a:pt x="1133416" y="67416"/>
                    <a:pt x="1133416" y="91749"/>
                  </a:cubicBezTo>
                  <a:lnTo>
                    <a:pt x="1133416" y="422535"/>
                  </a:lnTo>
                  <a:cubicBezTo>
                    <a:pt x="1133416" y="446868"/>
                    <a:pt x="1123750" y="470205"/>
                    <a:pt x="1106543" y="487411"/>
                  </a:cubicBezTo>
                  <a:cubicBezTo>
                    <a:pt x="1089337" y="504618"/>
                    <a:pt x="1066000" y="514284"/>
                    <a:pt x="1041667" y="514284"/>
                  </a:cubicBezTo>
                  <a:lnTo>
                    <a:pt x="91749" y="514284"/>
                  </a:lnTo>
                  <a:cubicBezTo>
                    <a:pt x="67416" y="514284"/>
                    <a:pt x="44079" y="504618"/>
                    <a:pt x="26873" y="487411"/>
                  </a:cubicBezTo>
                  <a:cubicBezTo>
                    <a:pt x="9666" y="470205"/>
                    <a:pt x="0" y="446868"/>
                    <a:pt x="0" y="422535"/>
                  </a:cubicBezTo>
                  <a:lnTo>
                    <a:pt x="0" y="91749"/>
                  </a:lnTo>
                  <a:cubicBezTo>
                    <a:pt x="0" y="67416"/>
                    <a:pt x="9666" y="44079"/>
                    <a:pt x="26873" y="26873"/>
                  </a:cubicBezTo>
                  <a:cubicBezTo>
                    <a:pt x="44079" y="9666"/>
                    <a:pt x="67416" y="0"/>
                    <a:pt x="91749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1133416" cy="600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2991" y="6326048"/>
            <a:ext cx="3212108" cy="70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999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4.MoblieNetV2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991" y="7050872"/>
            <a:ext cx="4474778" cy="6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pretrained MoblieNetV2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62731" y="6280680"/>
            <a:ext cx="3106440" cy="70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999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5.classification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36109" y="6923046"/>
            <a:ext cx="3559683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Dense layer, Dropout and SoftMax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708246" y="6058753"/>
            <a:ext cx="3896363" cy="1952672"/>
            <a:chOff x="0" y="0"/>
            <a:chExt cx="1026203" cy="5142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6203" cy="514284"/>
            </a:xfrm>
            <a:custGeom>
              <a:avLst/>
              <a:gdLst/>
              <a:ahLst/>
              <a:cxnLst/>
              <a:rect r="r" b="b" t="t" l="l"/>
              <a:pathLst>
                <a:path h="514284" w="1026203">
                  <a:moveTo>
                    <a:pt x="101335" y="0"/>
                  </a:moveTo>
                  <a:lnTo>
                    <a:pt x="924868" y="0"/>
                  </a:lnTo>
                  <a:cubicBezTo>
                    <a:pt x="951743" y="0"/>
                    <a:pt x="977518" y="10676"/>
                    <a:pt x="996522" y="29680"/>
                  </a:cubicBezTo>
                  <a:cubicBezTo>
                    <a:pt x="1015526" y="48684"/>
                    <a:pt x="1026203" y="74459"/>
                    <a:pt x="1026203" y="101335"/>
                  </a:cubicBezTo>
                  <a:lnTo>
                    <a:pt x="1026203" y="412949"/>
                  </a:lnTo>
                  <a:cubicBezTo>
                    <a:pt x="1026203" y="439825"/>
                    <a:pt x="1015526" y="465600"/>
                    <a:pt x="996522" y="484604"/>
                  </a:cubicBezTo>
                  <a:cubicBezTo>
                    <a:pt x="977518" y="503608"/>
                    <a:pt x="951743" y="514284"/>
                    <a:pt x="924868" y="514284"/>
                  </a:cubicBezTo>
                  <a:lnTo>
                    <a:pt x="101335" y="514284"/>
                  </a:lnTo>
                  <a:cubicBezTo>
                    <a:pt x="74459" y="514284"/>
                    <a:pt x="48684" y="503608"/>
                    <a:pt x="29680" y="484604"/>
                  </a:cubicBezTo>
                  <a:cubicBezTo>
                    <a:pt x="10676" y="465600"/>
                    <a:pt x="0" y="439825"/>
                    <a:pt x="0" y="412949"/>
                  </a:cubicBezTo>
                  <a:lnTo>
                    <a:pt x="0" y="101335"/>
                  </a:lnTo>
                  <a:cubicBezTo>
                    <a:pt x="0" y="74459"/>
                    <a:pt x="10676" y="48684"/>
                    <a:pt x="29680" y="29680"/>
                  </a:cubicBezTo>
                  <a:cubicBezTo>
                    <a:pt x="48684" y="10676"/>
                    <a:pt x="74459" y="0"/>
                    <a:pt x="101335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1026203" cy="600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436029" y="6280680"/>
            <a:ext cx="2558355" cy="70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999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6.prediction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35365" y="6968414"/>
            <a:ext cx="3559683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Classify into 1 of 14 plant species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948722" y="6058753"/>
            <a:ext cx="3896363" cy="1952672"/>
            <a:chOff x="0" y="0"/>
            <a:chExt cx="1026203" cy="5142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6203" cy="514284"/>
            </a:xfrm>
            <a:custGeom>
              <a:avLst/>
              <a:gdLst/>
              <a:ahLst/>
              <a:cxnLst/>
              <a:rect r="r" b="b" t="t" l="l"/>
              <a:pathLst>
                <a:path h="514284" w="1026203">
                  <a:moveTo>
                    <a:pt x="101335" y="0"/>
                  </a:moveTo>
                  <a:lnTo>
                    <a:pt x="924868" y="0"/>
                  </a:lnTo>
                  <a:cubicBezTo>
                    <a:pt x="951743" y="0"/>
                    <a:pt x="977518" y="10676"/>
                    <a:pt x="996522" y="29680"/>
                  </a:cubicBezTo>
                  <a:cubicBezTo>
                    <a:pt x="1015526" y="48684"/>
                    <a:pt x="1026203" y="74459"/>
                    <a:pt x="1026203" y="101335"/>
                  </a:cubicBezTo>
                  <a:lnTo>
                    <a:pt x="1026203" y="412949"/>
                  </a:lnTo>
                  <a:cubicBezTo>
                    <a:pt x="1026203" y="439825"/>
                    <a:pt x="1015526" y="465600"/>
                    <a:pt x="996522" y="484604"/>
                  </a:cubicBezTo>
                  <a:cubicBezTo>
                    <a:pt x="977518" y="503608"/>
                    <a:pt x="951743" y="514284"/>
                    <a:pt x="924868" y="514284"/>
                  </a:cubicBezTo>
                  <a:lnTo>
                    <a:pt x="101335" y="514284"/>
                  </a:lnTo>
                  <a:cubicBezTo>
                    <a:pt x="74459" y="514284"/>
                    <a:pt x="48684" y="503608"/>
                    <a:pt x="29680" y="484604"/>
                  </a:cubicBezTo>
                  <a:cubicBezTo>
                    <a:pt x="10676" y="465600"/>
                    <a:pt x="0" y="439825"/>
                    <a:pt x="0" y="412949"/>
                  </a:cubicBezTo>
                  <a:lnTo>
                    <a:pt x="0" y="101335"/>
                  </a:lnTo>
                  <a:cubicBezTo>
                    <a:pt x="0" y="74459"/>
                    <a:pt x="10676" y="48684"/>
                    <a:pt x="29680" y="29680"/>
                  </a:cubicBezTo>
                  <a:cubicBezTo>
                    <a:pt x="48684" y="10676"/>
                    <a:pt x="74459" y="0"/>
                    <a:pt x="101335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026203" cy="600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4943610" y="6280680"/>
            <a:ext cx="1906588" cy="70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999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7.Output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177322" y="6923046"/>
            <a:ext cx="3559683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Plant Species + Confidence score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53309" cy="10329225"/>
          </a:xfrm>
          <a:custGeom>
            <a:avLst/>
            <a:gdLst/>
            <a:ahLst/>
            <a:cxnLst/>
            <a:rect r="r" b="b" t="t" l="l"/>
            <a:pathLst>
              <a:path h="10329225" w="18353309">
                <a:moveTo>
                  <a:pt x="0" y="0"/>
                </a:moveTo>
                <a:lnTo>
                  <a:pt x="18353309" y="0"/>
                </a:lnTo>
                <a:lnTo>
                  <a:pt x="18353309" y="10329225"/>
                </a:lnTo>
                <a:lnTo>
                  <a:pt x="0" y="10329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A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992991" y="1527696"/>
          <a:ext cx="16266309" cy="8667750"/>
        </p:xfrm>
        <a:graphic>
          <a:graphicData uri="http://schemas.openxmlformats.org/drawingml/2006/table">
            <a:tbl>
              <a:tblPr/>
              <a:tblGrid>
                <a:gridCol w="8133155"/>
                <a:gridCol w="8133155"/>
              </a:tblGrid>
              <a:tr h="12684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b="true" sz="3999">
                          <a:solidFill>
                            <a:srgbClr val="3B454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b="true" sz="3999">
                          <a:solidFill>
                            <a:srgbClr val="3B454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Technology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</a:tr>
              <a:tr h="10570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Language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Python, JavaScript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</a:tr>
              <a:tr h="10570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Deep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TensorFlow, Keras, MobileNetV2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</a:tr>
              <a:tr h="10570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Image Processing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Pillow, NumPy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</a:tr>
              <a:tr h="10570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Frontend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React.js, HTML, CSS, JavaScript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</a:tr>
              <a:tr h="10570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Flask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</a:tr>
              <a:tr h="10570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MobileNetV2 Transfer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</a:tr>
              <a:tr h="10570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Deployment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40544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Render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1D9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7285786" y="358254"/>
            <a:ext cx="3680718" cy="116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6"/>
              </a:lnSpc>
            </a:pPr>
            <a:r>
              <a:rPr lang="en-US" sz="6600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 Stack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724672"/>
            <a:ext cx="9437588" cy="116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6"/>
              </a:lnSpc>
            </a:pPr>
            <a:r>
              <a:rPr lang="en-US" sz="6600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 &amp; Future Work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2991" y="2707741"/>
            <a:ext cx="2941935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6885" y="3532225"/>
            <a:ext cx="8617115" cy="340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403" indent="-362202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Limit</a:t>
            </a:r>
            <a:r>
              <a:rPr lang="en-US" sz="39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ed to 14 species</a:t>
            </a:r>
          </a:p>
          <a:p>
            <a:pPr algn="l" marL="724403" indent="-362202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Depends on dataset quality</a:t>
            </a:r>
          </a:p>
          <a:p>
            <a:pPr algn="l" marL="724403" indent="-362202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Sensitive to image quality</a:t>
            </a:r>
          </a:p>
          <a:p>
            <a:pPr algn="l" marL="724459" indent="-36223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Similar species may be confused</a:t>
            </a:r>
          </a:p>
          <a:p>
            <a:pPr algn="l" marL="724403" indent="-362202" lvl="1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Background can affect prediction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79447" y="2707741"/>
            <a:ext cx="3627378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</a:t>
            </a:r>
            <a:r>
              <a:rPr lang="en-US" sz="4999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ture 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00950" y="3532225"/>
            <a:ext cx="7558350" cy="335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459" indent="-36223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Add more plant species</a:t>
            </a:r>
          </a:p>
          <a:p>
            <a:pPr algn="l" marL="724459" indent="-36223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Increase dataset size</a:t>
            </a:r>
          </a:p>
          <a:p>
            <a:pPr algn="l" marL="724459" indent="-36223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 model accuracy</a:t>
            </a:r>
          </a:p>
          <a:p>
            <a:pPr algn="l" marL="724403" indent="-362202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Add unknown-species detection</a:t>
            </a:r>
          </a:p>
          <a:p>
            <a:pPr algn="l" marL="724403" indent="-362202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a mobile app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1455363"/>
            <a:ext cx="7269659" cy="116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6"/>
              </a:lnSpc>
            </a:pPr>
            <a:r>
              <a:rPr lang="en-US" sz="6600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Results &amp; Conclusion</a:t>
            </a:r>
          </a:p>
        </p:txBody>
      </p:sp>
      <p:sp>
        <p:nvSpPr>
          <p:cNvPr name="Freeform 3" id="3" descr="preencoded.png"/>
          <p:cNvSpPr/>
          <p:nvPr/>
        </p:nvSpPr>
        <p:spPr>
          <a:xfrm flipH="false" flipV="false" rot="0">
            <a:off x="992991" y="2875969"/>
            <a:ext cx="16315868" cy="3370764"/>
          </a:xfrm>
          <a:custGeom>
            <a:avLst/>
            <a:gdLst/>
            <a:ahLst/>
            <a:cxnLst/>
            <a:rect r="r" b="b" t="t" l="l"/>
            <a:pathLst>
              <a:path h="3370764" w="16315868">
                <a:moveTo>
                  <a:pt x="0" y="0"/>
                </a:moveTo>
                <a:lnTo>
                  <a:pt x="16315868" y="0"/>
                </a:lnTo>
                <a:lnTo>
                  <a:pt x="16315868" y="3370764"/>
                </a:lnTo>
                <a:lnTo>
                  <a:pt x="0" y="3370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55" r="0" b="-15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49773" y="3093063"/>
            <a:ext cx="2409230" cy="70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b="true" sz="3999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49773" y="3706854"/>
            <a:ext cx="14537217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348" indent="-271674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14 plant species classified from images.</a:t>
            </a:r>
          </a:p>
          <a:p>
            <a:pPr algn="l" marL="543348" indent="-271674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Dataset: 9,800 images (700 per class).</a:t>
            </a:r>
          </a:p>
          <a:p>
            <a:pPr algn="l" marL="543348" indent="-271674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Best validation accuracy: </a:t>
            </a:r>
            <a:r>
              <a:rPr lang="en-US" b="true" sz="3000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85.61%</a:t>
            </a: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 marL="543348" indent="-271674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Final validation accuracy: </a:t>
            </a:r>
            <a:r>
              <a:rPr lang="en-US" b="true" sz="3000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85.15%</a:t>
            </a: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Freeform 6" id="6" descr="preencoded.png"/>
          <p:cNvSpPr/>
          <p:nvPr/>
        </p:nvSpPr>
        <p:spPr>
          <a:xfrm flipH="false" flipV="false" rot="0">
            <a:off x="992991" y="6530473"/>
            <a:ext cx="16315868" cy="2165204"/>
          </a:xfrm>
          <a:custGeom>
            <a:avLst/>
            <a:gdLst/>
            <a:ahLst/>
            <a:cxnLst/>
            <a:rect r="r" b="b" t="t" l="l"/>
            <a:pathLst>
              <a:path h="2165204" w="16315868">
                <a:moveTo>
                  <a:pt x="0" y="0"/>
                </a:moveTo>
                <a:lnTo>
                  <a:pt x="16315868" y="0"/>
                </a:lnTo>
                <a:lnTo>
                  <a:pt x="16315868" y="2165204"/>
                </a:lnTo>
                <a:lnTo>
                  <a:pt x="0" y="2165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68" r="0" b="-36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49773" y="6747567"/>
            <a:ext cx="2297410" cy="70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b="true" sz="3999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49773" y="7370597"/>
            <a:ext cx="1453721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3B4540"/>
                </a:solidFill>
                <a:latin typeface="Calibri (MS)"/>
                <a:ea typeface="Calibri (MS)"/>
                <a:cs typeface="Calibri (MS)"/>
                <a:sym typeface="Calibri (MS)"/>
              </a:rPr>
              <a:t>Transfer learning with MobileNetV2 provides an effective, practical approach for plant species identification suitable for a simple web-based demo.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61360" y="4116705"/>
            <a:ext cx="6365280" cy="178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79"/>
              </a:lnSpc>
            </a:pPr>
            <a:r>
              <a:rPr lang="en-US" sz="9999" b="true">
                <a:solidFill>
                  <a:srgbClr val="3B4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DAHXV29vEro</dc:identifier>
  <dcterms:modified xsi:type="dcterms:W3CDTF">2011-08-01T06:04:30Z</dcterms:modified>
  <cp:revision>1</cp:revision>
  <dc:title>Student Name : N. Mukunda Rao Roll Number : 160124771051 Class And Section : AIDS - 1 , Semester 5</dc:title>
</cp:coreProperties>
</file>